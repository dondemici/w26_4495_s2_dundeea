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E38AA-5BE5-400C-ACB5-72EC192CE8C6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F3382-CF14-4459-9AC4-47815BF1AA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3070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8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9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5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9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99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3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1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4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55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71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17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17EA4F-FF17-0CFB-F346-BBBA15763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EMS Exposure Forecasting App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484DB-E654-2418-513C-465F545D7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A dashboard that turns historical work-related exposure events into interpretable weekly forecasts, accuracy checks, and manager-ready planning advice.</a:t>
            </a:r>
            <a:endParaRPr lang="en-CA" sz="1600" dirty="0"/>
          </a:p>
        </p:txBody>
      </p:sp>
      <p:pic>
        <p:nvPicPr>
          <p:cNvPr id="16" name="Picture 15" descr="Hand on a tablet with digital signs">
            <a:extLst>
              <a:ext uri="{FF2B5EF4-FFF2-40B4-BE49-F238E27FC236}">
                <a16:creationId xmlns:a16="http://schemas.microsoft.com/office/drawing/2014/main" id="{2CFE64EC-AFDB-34BF-DE2A-439A12788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12" r="4621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775AAB8-A6AD-203A-ADFE-8A92EF80B0B1}"/>
              </a:ext>
            </a:extLst>
          </p:cNvPr>
          <p:cNvSpPr txBox="1"/>
          <p:nvPr/>
        </p:nvSpPr>
        <p:spPr>
          <a:xfrm>
            <a:off x="5723776" y="3124200"/>
            <a:ext cx="33361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</a:t>
            </a:r>
            <a:r>
              <a:rPr lang="en-US" b="1" dirty="0" err="1"/>
              <a:t>Riipen</a:t>
            </a:r>
            <a:r>
              <a:rPr lang="en-US" b="1" dirty="0"/>
              <a:t> Project for CSIS 4495</a:t>
            </a:r>
          </a:p>
          <a:p>
            <a:r>
              <a:rPr lang="en-US" dirty="0"/>
              <a:t>Dundee Adriatico</a:t>
            </a:r>
          </a:p>
          <a:p>
            <a:r>
              <a:rPr lang="en-US" i="1" dirty="0"/>
              <a:t>08 April 2026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28507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F7E29AD5-28FB-3915-2349-E6CB41CD35F9}"/>
              </a:ext>
            </a:extLst>
          </p:cNvPr>
          <p:cNvSpPr/>
          <p:nvPr/>
        </p:nvSpPr>
        <p:spPr>
          <a:xfrm>
            <a:off x="851197" y="2054006"/>
            <a:ext cx="2268210" cy="300930"/>
          </a:xfrm>
          <a:prstGeom prst="roundRect">
            <a:avLst>
              <a:gd name="adj" fmla="val 30355418"/>
            </a:avLst>
          </a:prstGeom>
          <a:solidFill>
            <a:srgbClr val="0891B2">
              <a:alpha val="10000"/>
            </a:srgbClr>
          </a:solidFill>
          <a:ln/>
        </p:spPr>
        <p:txBody>
          <a:bodyPr wrap="square" lIns="106680" tIns="106680" rIns="106680" bIns="10668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4A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A049445-9B38-6B3F-7D30-CD079A3EBF9C}"/>
              </a:ext>
            </a:extLst>
          </p:cNvPr>
          <p:cNvSpPr/>
          <p:nvPr/>
        </p:nvSpPr>
        <p:spPr>
          <a:xfrm>
            <a:off x="902663" y="3462927"/>
            <a:ext cx="866775" cy="300930"/>
          </a:xfrm>
          <a:prstGeom prst="roundRect">
            <a:avLst>
              <a:gd name="adj" fmla="val 30355418"/>
            </a:avLst>
          </a:prstGeom>
          <a:solidFill>
            <a:srgbClr val="0891B2">
              <a:alpha val="10000"/>
            </a:srgbClr>
          </a:solidFill>
          <a:ln/>
        </p:spPr>
        <p:txBody>
          <a:bodyPr wrap="square" lIns="106680" tIns="106680" rIns="106680" bIns="10668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4A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Gap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AA84101-8C6A-D463-B489-81D41CE1801A}"/>
              </a:ext>
            </a:extLst>
          </p:cNvPr>
          <p:cNvSpPr/>
          <p:nvPr/>
        </p:nvSpPr>
        <p:spPr>
          <a:xfrm>
            <a:off x="851197" y="4927916"/>
            <a:ext cx="2462182" cy="300930"/>
          </a:xfrm>
          <a:prstGeom prst="roundRect">
            <a:avLst>
              <a:gd name="adj" fmla="val 30355418"/>
            </a:avLst>
          </a:prstGeom>
          <a:solidFill>
            <a:srgbClr val="0891B2">
              <a:alpha val="10000"/>
            </a:srgbClr>
          </a:solidFill>
          <a:ln/>
        </p:spPr>
        <p:txBody>
          <a:bodyPr wrap="square" lIns="106680" tIns="106680" rIns="106680" bIns="10668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4A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question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69D45E8-05D3-E4FF-B98D-9388F7C066C2}"/>
              </a:ext>
            </a:extLst>
          </p:cNvPr>
          <p:cNvSpPr/>
          <p:nvPr/>
        </p:nvSpPr>
        <p:spPr>
          <a:xfrm>
            <a:off x="834280" y="392448"/>
            <a:ext cx="464780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2000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 and motivation</a:t>
            </a:r>
            <a:endParaRPr lang="en-US" sz="20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182BDB8-597D-5D45-703F-AD5110BB9868}"/>
              </a:ext>
            </a:extLst>
          </p:cNvPr>
          <p:cNvSpPr/>
          <p:nvPr/>
        </p:nvSpPr>
        <p:spPr>
          <a:xfrm>
            <a:off x="834279" y="766602"/>
            <a:ext cx="10455057" cy="61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EMS leaders often see risk only after a bad week</a:t>
            </a:r>
            <a:endParaRPr lang="en-US" sz="3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9004102-C07C-29EB-EBFB-788CB2783016}"/>
              </a:ext>
            </a:extLst>
          </p:cNvPr>
          <p:cNvSpPr/>
          <p:nvPr/>
        </p:nvSpPr>
        <p:spPr>
          <a:xfrm>
            <a:off x="2754509" y="1905326"/>
            <a:ext cx="415662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EMS clinicians work in unpredictable scenes, under time pressure, with lifting strain, transport hazards, and blood or body-fluid exposure risk.</a:t>
            </a:r>
            <a:endParaRPr lang="en-US" sz="13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DCB63EB-E43B-7FB6-15F4-1FB0622BE04C}"/>
              </a:ext>
            </a:extLst>
          </p:cNvPr>
          <p:cNvSpPr/>
          <p:nvPr/>
        </p:nvSpPr>
        <p:spPr>
          <a:xfrm>
            <a:off x="2686049" y="3340962"/>
            <a:ext cx="415662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Most systems still monitor injuries and exposures retrospectively, which limits proactive staffing, PPE messaging, and training decisions.</a:t>
            </a:r>
            <a:endParaRPr lang="en-US" sz="13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E9F704A-BDE5-F4B6-6FA1-02D1DC6F94E6}"/>
              </a:ext>
            </a:extLst>
          </p:cNvPr>
          <p:cNvSpPr/>
          <p:nvPr/>
        </p:nvSpPr>
        <p:spPr>
          <a:xfrm>
            <a:off x="2686050" y="4871848"/>
            <a:ext cx="415662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simple, transparent forecasting methods turn routine exposure records into short-term signals that managers can actually use?</a:t>
            </a:r>
            <a:endParaRPr lang="en-US" sz="135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4676FAA-11D2-E323-6F89-9FBAC0EB94BE}"/>
              </a:ext>
            </a:extLst>
          </p:cNvPr>
          <p:cNvSpPr/>
          <p:nvPr/>
        </p:nvSpPr>
        <p:spPr>
          <a:xfrm>
            <a:off x="8261896" y="2038716"/>
            <a:ext cx="3027441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focus</a:t>
            </a:r>
            <a:endParaRPr lang="en-US" sz="936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A783A0F-A367-F2F3-586D-60F0D5798530}"/>
              </a:ext>
            </a:extLst>
          </p:cNvPr>
          <p:cNvSpPr/>
          <p:nvPr/>
        </p:nvSpPr>
        <p:spPr>
          <a:xfrm>
            <a:off x="8261896" y="2331312"/>
            <a:ext cx="3027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Surface recent patterns</a:t>
            </a:r>
            <a:endParaRPr lang="en-US" sz="135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33992E1-18DE-6DF5-6FE4-F4A1DAD2D636}"/>
              </a:ext>
            </a:extLst>
          </p:cNvPr>
          <p:cNvSpPr/>
          <p:nvPr/>
        </p:nvSpPr>
        <p:spPr>
          <a:xfrm>
            <a:off x="8261896" y="2598012"/>
            <a:ext cx="2968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clear visual summaries of exposure events.</a:t>
            </a:r>
            <a:endParaRPr lang="en-US" sz="12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ED05553-6A12-6CD5-AFC1-4848E1B107B7}"/>
              </a:ext>
            </a:extLst>
          </p:cNvPr>
          <p:cNvSpPr/>
          <p:nvPr/>
        </p:nvSpPr>
        <p:spPr>
          <a:xfrm>
            <a:off x="8261896" y="3207612"/>
            <a:ext cx="3027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Test temporal structure</a:t>
            </a:r>
            <a:endParaRPr lang="en-US" sz="13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AE7BD19-A995-5F68-D6C8-C45F97B41860}"/>
              </a:ext>
            </a:extLst>
          </p:cNvPr>
          <p:cNvSpPr/>
          <p:nvPr/>
        </p:nvSpPr>
        <p:spPr>
          <a:xfrm>
            <a:off x="8261896" y="3474312"/>
            <a:ext cx="2968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 whether weekly exposure counts show trend or seasonality.</a:t>
            </a:r>
            <a:endParaRPr lang="en-US" sz="12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C820CC5-6FD3-B466-9677-6A4975F0B93F}"/>
              </a:ext>
            </a:extLst>
          </p:cNvPr>
          <p:cNvSpPr/>
          <p:nvPr/>
        </p:nvSpPr>
        <p:spPr>
          <a:xfrm>
            <a:off x="8261896" y="4083912"/>
            <a:ext cx="3027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Communicate uncertainty</a:t>
            </a:r>
            <a:endParaRPr lang="en-US" sz="135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39F767B3-33E4-5262-961E-E941A00B52F4}"/>
              </a:ext>
            </a:extLst>
          </p:cNvPr>
          <p:cNvSpPr/>
          <p:nvPr/>
        </p:nvSpPr>
        <p:spPr>
          <a:xfrm>
            <a:off x="8261896" y="4350612"/>
            <a:ext cx="2968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Show forecast error with MAE, RMSE, and simple planning language.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6987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817B718-52E0-FD72-1A55-A18C955BBEB6}"/>
              </a:ext>
            </a:extLst>
          </p:cNvPr>
          <p:cNvSpPr/>
          <p:nvPr/>
        </p:nvSpPr>
        <p:spPr>
          <a:xfrm>
            <a:off x="1850491" y="1495425"/>
            <a:ext cx="2616101" cy="2609850"/>
          </a:xfrm>
          <a:prstGeom prst="roundRect">
            <a:avLst>
              <a:gd name="adj" fmla="val 8408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B6FD070-A028-AB38-C35E-2A26D7DA8EB7}"/>
              </a:ext>
            </a:extLst>
          </p:cNvPr>
          <p:cNvSpPr/>
          <p:nvPr/>
        </p:nvSpPr>
        <p:spPr>
          <a:xfrm>
            <a:off x="4657092" y="1495425"/>
            <a:ext cx="2616250" cy="2609850"/>
          </a:xfrm>
          <a:prstGeom prst="roundRect">
            <a:avLst>
              <a:gd name="adj" fmla="val 8408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E2DC41E-73F5-8E43-371C-402675684E07}"/>
              </a:ext>
            </a:extLst>
          </p:cNvPr>
          <p:cNvSpPr/>
          <p:nvPr/>
        </p:nvSpPr>
        <p:spPr>
          <a:xfrm>
            <a:off x="7463841" y="1495425"/>
            <a:ext cx="2616101" cy="2609850"/>
          </a:xfrm>
          <a:prstGeom prst="roundRect">
            <a:avLst>
              <a:gd name="adj" fmla="val 8408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9228A47-9ABC-7F93-2302-761975B003CB}"/>
              </a:ext>
            </a:extLst>
          </p:cNvPr>
          <p:cNvSpPr/>
          <p:nvPr/>
        </p:nvSpPr>
        <p:spPr>
          <a:xfrm>
            <a:off x="1850491" y="4333875"/>
            <a:ext cx="8229600" cy="1607046"/>
          </a:xfrm>
          <a:prstGeom prst="roundRect">
            <a:avLst>
              <a:gd name="adj" fmla="val 136559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0426AF4-068B-20D8-1B6F-65EF566671C1}"/>
              </a:ext>
            </a:extLst>
          </p:cNvPr>
          <p:cNvSpPr/>
          <p:nvPr/>
        </p:nvSpPr>
        <p:spPr>
          <a:xfrm>
            <a:off x="2050516" y="4959846"/>
            <a:ext cx="1474440" cy="685800"/>
          </a:xfrm>
          <a:prstGeom prst="roundRect">
            <a:avLst>
              <a:gd name="adj" fmla="val 213333"/>
            </a:avLst>
          </a:prstGeom>
          <a:solidFill>
            <a:srgbClr val="EAF4F7"/>
          </a:solidFill>
          <a:ln/>
        </p:spPr>
        <p:txBody>
          <a:bodyPr wrap="square" lIns="152400" tIns="152400" rIns="152400" bIns="15240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Raw exposure records</a:t>
            </a:r>
            <a:endParaRPr lang="en-US" sz="10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A87925D-B74E-C234-F3DB-361E45838F51}"/>
              </a:ext>
            </a:extLst>
          </p:cNvPr>
          <p:cNvSpPr/>
          <p:nvPr/>
        </p:nvSpPr>
        <p:spPr>
          <a:xfrm>
            <a:off x="5227996" y="4959846"/>
            <a:ext cx="1474440" cy="685800"/>
          </a:xfrm>
          <a:prstGeom prst="roundRect">
            <a:avLst>
              <a:gd name="adj" fmla="val 213333"/>
            </a:avLst>
          </a:prstGeom>
          <a:solidFill>
            <a:srgbClr val="EAF4F7"/>
          </a:solidFill>
          <a:ln/>
        </p:spPr>
        <p:txBody>
          <a:bodyPr wrap="square" lIns="152400" tIns="152400" rIns="152400" bIns="15240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 cleaning &amp; cohort build</a:t>
            </a:r>
            <a:endParaRPr lang="en-US" sz="10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A9606E6-7C68-3C69-8FBF-DB96FE36473C}"/>
              </a:ext>
            </a:extLst>
          </p:cNvPr>
          <p:cNvSpPr/>
          <p:nvPr/>
        </p:nvSpPr>
        <p:spPr>
          <a:xfrm>
            <a:off x="8405477" y="4864596"/>
            <a:ext cx="1474589" cy="876300"/>
          </a:xfrm>
          <a:prstGeom prst="roundRect">
            <a:avLst>
              <a:gd name="adj" fmla="val 166957"/>
            </a:avLst>
          </a:prstGeom>
          <a:solidFill>
            <a:srgbClr val="EAF4F7"/>
          </a:solidFill>
          <a:ln/>
        </p:spPr>
        <p:txBody>
          <a:bodyPr wrap="square" lIns="152400" tIns="152400" rIns="152400" bIns="152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CSV → daily counts → weekly series</a:t>
            </a:r>
            <a:endParaRPr lang="en-US" sz="10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CCD754C-62D1-9660-B7A7-5E0A9204FE4C}"/>
              </a:ext>
            </a:extLst>
          </p:cNvPr>
          <p:cNvSpPr/>
          <p:nvPr/>
        </p:nvSpPr>
        <p:spPr>
          <a:xfrm>
            <a:off x="767629" y="365969"/>
            <a:ext cx="8394192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2000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pipeline</a:t>
            </a:r>
            <a:endParaRPr lang="en-US" sz="20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59716B7-E857-FF2B-9DED-1583D60D1E1A}"/>
              </a:ext>
            </a:extLst>
          </p:cNvPr>
          <p:cNvSpPr/>
          <p:nvPr/>
        </p:nvSpPr>
        <p:spPr>
          <a:xfrm>
            <a:off x="761367" y="733425"/>
            <a:ext cx="109990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Pragmatic design: one clean outcome, one usable weekly series</a:t>
            </a:r>
            <a:endParaRPr lang="en-US" sz="3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A0C11FD-2877-BA4B-FE4C-B0A146BBB0D6}"/>
              </a:ext>
            </a:extLst>
          </p:cNvPr>
          <p:cNvSpPr/>
          <p:nvPr/>
        </p:nvSpPr>
        <p:spPr>
          <a:xfrm>
            <a:off x="2050516" y="1695450"/>
            <a:ext cx="22603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🗂️</a:t>
            </a:r>
            <a:endParaRPr lang="en-US" sz="22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64BFE44-84E0-42B3-AAFA-6F487BDE3594}"/>
              </a:ext>
            </a:extLst>
          </p:cNvPr>
          <p:cNvSpPr/>
          <p:nvPr/>
        </p:nvSpPr>
        <p:spPr>
          <a:xfrm>
            <a:off x="2050516" y="2152650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 data</a:t>
            </a:r>
            <a:endParaRPr lang="en-US" sz="15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9E1D60C-CD32-A2FC-0A15-73C46B50CCF3}"/>
              </a:ext>
            </a:extLst>
          </p:cNvPr>
          <p:cNvSpPr/>
          <p:nvPr/>
        </p:nvSpPr>
        <p:spPr>
          <a:xfrm>
            <a:off x="2050516" y="2495550"/>
            <a:ext cx="22160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final scope used a cleaned 2024 cohort of work-related exposure events rather than multi-year demand and injury modeling.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560F500-3A5E-31D0-466C-EAD7FB11B3E5}"/>
              </a:ext>
            </a:extLst>
          </p:cNvPr>
          <p:cNvSpPr/>
          <p:nvPr/>
        </p:nvSpPr>
        <p:spPr>
          <a:xfrm>
            <a:off x="4857117" y="1695450"/>
            <a:ext cx="22605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⚙️</a:t>
            </a:r>
            <a:endParaRPr lang="en-US" sz="22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5A7D5B5-8D3C-7840-0782-859BFC3D4879}"/>
              </a:ext>
            </a:extLst>
          </p:cNvPr>
          <p:cNvSpPr/>
          <p:nvPr/>
        </p:nvSpPr>
        <p:spPr>
          <a:xfrm>
            <a:off x="4857117" y="2152650"/>
            <a:ext cx="2260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Engineering flow</a:t>
            </a:r>
            <a:endParaRPr lang="en-US" sz="15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269C747-4921-433D-9A0A-B00EE7A44E0C}"/>
              </a:ext>
            </a:extLst>
          </p:cNvPr>
          <p:cNvSpPr/>
          <p:nvPr/>
        </p:nvSpPr>
        <p:spPr>
          <a:xfrm>
            <a:off x="4857117" y="2495550"/>
            <a:ext cx="221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 Server handled heavy filtering and joins, then exported a compact CSV that Python ingested into the app.</a:t>
            </a:r>
            <a:endParaRPr lang="en-US" sz="12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C38F86AA-6113-62AC-492D-0B1625296D34}"/>
              </a:ext>
            </a:extLst>
          </p:cNvPr>
          <p:cNvSpPr/>
          <p:nvPr/>
        </p:nvSpPr>
        <p:spPr>
          <a:xfrm>
            <a:off x="7663866" y="1695450"/>
            <a:ext cx="22603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📈</a:t>
            </a:r>
            <a:endParaRPr lang="en-US" sz="22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114E074-340C-BBC0-B5A2-6049A837C83E}"/>
              </a:ext>
            </a:extLst>
          </p:cNvPr>
          <p:cNvSpPr/>
          <p:nvPr/>
        </p:nvSpPr>
        <p:spPr>
          <a:xfrm>
            <a:off x="7663866" y="2152650"/>
            <a:ext cx="22160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Forecast-ready series</a:t>
            </a:r>
            <a:endParaRPr lang="en-US" sz="15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91E61B8-1B8D-4FEC-D575-AA042D579766}"/>
              </a:ext>
            </a:extLst>
          </p:cNvPr>
          <p:cNvSpPr/>
          <p:nvPr/>
        </p:nvSpPr>
        <p:spPr>
          <a:xfrm>
            <a:off x="7663866" y="2762250"/>
            <a:ext cx="22160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app parsed timestamps, built daily counts, then resampled to Monday-based weekly exposure totals for modeling.</a:t>
            </a:r>
            <a:endParaRPr lang="en-US" sz="12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98D45E03-1B36-AE87-A191-1513C8C2DBA3}"/>
              </a:ext>
            </a:extLst>
          </p:cNvPr>
          <p:cNvSpPr/>
          <p:nvPr/>
        </p:nvSpPr>
        <p:spPr>
          <a:xfrm>
            <a:off x="2050516" y="4533900"/>
            <a:ext cx="7986141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summary</a:t>
            </a:r>
            <a:endParaRPr lang="en-US" sz="936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10E7B64E-CC80-6ACB-9DC2-E27143F23B83}"/>
              </a:ext>
            </a:extLst>
          </p:cNvPr>
          <p:cNvSpPr/>
          <p:nvPr/>
        </p:nvSpPr>
        <p:spPr>
          <a:xfrm>
            <a:off x="3624512" y="5150346"/>
            <a:ext cx="15039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3B33E3B9-D811-F929-E81D-CA4A60C4B2B8}"/>
              </a:ext>
            </a:extLst>
          </p:cNvPr>
          <p:cNvSpPr/>
          <p:nvPr/>
        </p:nvSpPr>
        <p:spPr>
          <a:xfrm>
            <a:off x="6801992" y="5150346"/>
            <a:ext cx="15039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87530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31764"/>
            <a:ext cx="5043091" cy="2209800"/>
          </a:xfrm>
          <a:prstGeom prst="roundRect">
            <a:avLst>
              <a:gd name="adj" fmla="val 132414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4144764"/>
            <a:ext cx="5043091" cy="1905000"/>
          </a:xfrm>
          <a:prstGeom prst="roundRect">
            <a:avLst>
              <a:gd name="adj" fmla="val 153600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6252964"/>
            <a:ext cx="5043091" cy="2209800"/>
          </a:xfrm>
          <a:prstGeom prst="roundRect">
            <a:avLst>
              <a:gd name="adj" fmla="val 132414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08291" y="-1604763"/>
            <a:ext cx="5574109" cy="5564188"/>
          </a:xfrm>
          <a:prstGeom prst="roundRect">
            <a:avLst>
              <a:gd name="adj" fmla="val 5258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74991" y="-710208"/>
            <a:ext cx="1544637" cy="2142331"/>
          </a:xfrm>
          <a:prstGeom prst="roundRect">
            <a:avLst>
              <a:gd name="adj" fmla="val 18943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blurRad="285750" dist="1333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22829" y="-710208"/>
            <a:ext cx="1544836" cy="2142331"/>
          </a:xfrm>
          <a:prstGeom prst="roundRect">
            <a:avLst>
              <a:gd name="adj" fmla="val 18941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blurRad="285750" dist="1333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770864" y="-710208"/>
            <a:ext cx="1544637" cy="2142331"/>
          </a:xfrm>
          <a:prstGeom prst="roundRect">
            <a:avLst>
              <a:gd name="adj" fmla="val 18943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blurRad="285750" dist="1333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74991" y="2041724"/>
            <a:ext cx="5040709" cy="177800"/>
          </a:xfrm>
          <a:prstGeom prst="roundRect">
            <a:avLst>
              <a:gd name="adj" fmla="val 68502857"/>
            </a:avLst>
          </a:prstGeom>
          <a:solidFill>
            <a:srgbClr val="DCEFF3"/>
          </a:solidFill>
          <a:ln/>
        </p:spPr>
        <p:txBody>
          <a:bodyPr wrap="none" lIns="0" tIns="0" rIns="0" bIns="0" rtlCol="0" anchor="ctr">
            <a:normAutofit fontScale="40000" lnSpcReduction="20000"/>
          </a:bodyPr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74991" y="2778324"/>
            <a:ext cx="5040709" cy="177800"/>
          </a:xfrm>
          <a:prstGeom prst="roundRect">
            <a:avLst>
              <a:gd name="adj" fmla="val 68502857"/>
            </a:avLst>
          </a:prstGeom>
          <a:solidFill>
            <a:srgbClr val="DCEFF3"/>
          </a:solidFill>
          <a:ln/>
        </p:spPr>
        <p:txBody>
          <a:bodyPr wrap="none" lIns="0" tIns="0" rIns="0" bIns="0" rtlCol="0" anchor="ctr">
            <a:normAutofit fontScale="40000" lnSpcReduction="20000"/>
          </a:bodyPr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74991" y="3514924"/>
            <a:ext cx="5040709" cy="177800"/>
          </a:xfrm>
          <a:prstGeom prst="roundRect">
            <a:avLst>
              <a:gd name="adj" fmla="val 68502857"/>
            </a:avLst>
          </a:prstGeom>
          <a:solidFill>
            <a:srgbClr val="DCEFF3"/>
          </a:solidFill>
          <a:ln/>
        </p:spPr>
        <p:txBody>
          <a:bodyPr wrap="none" lIns="0" tIns="0" rIns="0" bIns="0" rtlCol="0" anchor="ctr">
            <a:normAutofit fontScale="40000" lnSpcReduction="20000"/>
          </a:bodyPr>
          <a:lstStyle/>
          <a:p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9600" y="-1604764"/>
            <a:ext cx="514395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</a:pPr>
            <a:r>
              <a:rPr lang="en-US" sz="1248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Methods</a:t>
            </a:r>
            <a:endParaRPr lang="en-US" sz="1248" dirty="0"/>
          </a:p>
        </p:txBody>
      </p:sp>
      <p:sp>
        <p:nvSpPr>
          <p:cNvPr id="13" name="Text 11"/>
          <p:cNvSpPr/>
          <p:nvPr/>
        </p:nvSpPr>
        <p:spPr>
          <a:xfrm>
            <a:off x="609600" y="-1265436"/>
            <a:ext cx="5043091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200"/>
              </a:lnSpc>
            </a:pPr>
            <a:r>
              <a:rPr lang="en-US" sz="480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Simple models first, then explicit backtesting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76301" y="1998464"/>
            <a:ext cx="459988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Forecasting menu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76300" y="2455664"/>
            <a:ext cx="450969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Naive, moving average, exponential smoothing, Holt, Holt-Winters, SARIMA, and one clearly labeled experimental random forest option.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6301" y="4411464"/>
            <a:ext cx="459988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Evaluation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76300" y="4868664"/>
            <a:ext cx="45096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hold-out backtest on recent weeks reports MAE, RMSE, MAPE, and MAE as a share of average weekly exposure volume.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6301" y="6519664"/>
            <a:ext cx="459988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Design principle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76300" y="6976864"/>
            <a:ext cx="450969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project prioritizes interpretability over black-box performance so non-technical managers can judge reliability before acting.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74991" y="-1338064"/>
            <a:ext cx="504070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</a:pPr>
            <a:r>
              <a:rPr lang="en-US" sz="1248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the dashboard communicates reliability</a:t>
            </a:r>
            <a:endParaRPr lang="en-US" sz="1248" dirty="0"/>
          </a:p>
        </p:txBody>
      </p:sp>
      <p:sp>
        <p:nvSpPr>
          <p:cNvPr id="21" name="Text 19"/>
          <p:cNvSpPr/>
          <p:nvPr/>
        </p:nvSpPr>
        <p:spPr>
          <a:xfrm>
            <a:off x="6531372" y="-453827"/>
            <a:ext cx="105251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</a:pPr>
            <a:r>
              <a:rPr lang="en-US" sz="1248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MAE</a:t>
            </a:r>
            <a:endParaRPr lang="en-US" sz="1248" dirty="0"/>
          </a:p>
        </p:txBody>
      </p:sp>
      <p:sp>
        <p:nvSpPr>
          <p:cNvPr id="22" name="Text 20"/>
          <p:cNvSpPr/>
          <p:nvPr/>
        </p:nvSpPr>
        <p:spPr>
          <a:xfrm>
            <a:off x="6531372" y="-216099"/>
            <a:ext cx="1052512" cy="57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60"/>
              </a:lnSpc>
            </a:pPr>
            <a:r>
              <a:rPr lang="en-US" sz="48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531372" y="413743"/>
            <a:ext cx="1031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Typical miss per week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9209" y="-453827"/>
            <a:ext cx="1052715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</a:pPr>
            <a:r>
              <a:rPr lang="en-US" sz="1248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RMSE</a:t>
            </a:r>
            <a:endParaRPr lang="en-US" sz="1248" dirty="0"/>
          </a:p>
        </p:txBody>
      </p:sp>
      <p:sp>
        <p:nvSpPr>
          <p:cNvPr id="25" name="Text 23"/>
          <p:cNvSpPr/>
          <p:nvPr/>
        </p:nvSpPr>
        <p:spPr>
          <a:xfrm>
            <a:off x="8279209" y="-216099"/>
            <a:ext cx="1052715" cy="57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60"/>
              </a:lnSpc>
            </a:pPr>
            <a:r>
              <a:rPr lang="en-US" sz="48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8279210" y="413743"/>
            <a:ext cx="103207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Penalizes larger misses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27245" y="-453827"/>
            <a:ext cx="105251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</a:pPr>
            <a:r>
              <a:rPr lang="en-US" sz="1248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MAPE</a:t>
            </a:r>
            <a:endParaRPr lang="en-US" sz="1248" dirty="0"/>
          </a:p>
        </p:txBody>
      </p:sp>
      <p:sp>
        <p:nvSpPr>
          <p:cNvPr id="28" name="Text 26"/>
          <p:cNvSpPr/>
          <p:nvPr/>
        </p:nvSpPr>
        <p:spPr>
          <a:xfrm>
            <a:off x="10027245" y="-216099"/>
            <a:ext cx="1052512" cy="57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60"/>
              </a:lnSpc>
            </a:pPr>
            <a:r>
              <a:rPr lang="en-US" sz="48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10027245" y="413743"/>
            <a:ext cx="10318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Relative error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74991" y="1686124"/>
            <a:ext cx="15684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Interpretability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851952" y="1686124"/>
            <a:ext cx="4730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74991" y="2422724"/>
            <a:ext cx="23673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usefulness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38829" y="2422724"/>
            <a:ext cx="6904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74991" y="3159324"/>
            <a:ext cx="218092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Black-box complexity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15848" y="3159324"/>
            <a:ext cx="407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1" y="1379538"/>
            <a:ext cx="5573911" cy="6571853"/>
          </a:xfrm>
          <a:prstGeom prst="roundRect">
            <a:avLst>
              <a:gd name="adj" fmla="val 52496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76301" y="2036365"/>
            <a:ext cx="2418556" cy="2849563"/>
          </a:xfrm>
          <a:prstGeom prst="roundRect">
            <a:avLst>
              <a:gd name="adj" fmla="val 12098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blurRad="285750" dist="1333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98056" y="2036365"/>
            <a:ext cx="2418755" cy="2849563"/>
          </a:xfrm>
          <a:prstGeom prst="roundRect">
            <a:avLst>
              <a:gd name="adj" fmla="val 12097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blurRad="285750" dist="1333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6301" y="5089128"/>
            <a:ext cx="2418556" cy="2595563"/>
          </a:xfrm>
          <a:prstGeom prst="roundRect">
            <a:avLst>
              <a:gd name="adj" fmla="val 12098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blurRad="285750" dist="1333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98056" y="5089128"/>
            <a:ext cx="2418755" cy="2595563"/>
          </a:xfrm>
          <a:prstGeom prst="roundRect">
            <a:avLst>
              <a:gd name="adj" fmla="val 12097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blurRad="285750" dist="13335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39112" y="2108200"/>
            <a:ext cx="5043289" cy="5114528"/>
          </a:xfrm>
          <a:prstGeom prst="roundRect">
            <a:avLst>
              <a:gd name="adj" fmla="val 58019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05811" y="5203428"/>
            <a:ext cx="177800" cy="177800"/>
          </a:xfrm>
          <a:prstGeom prst="roundRect">
            <a:avLst>
              <a:gd name="adj" fmla="val 3428571"/>
            </a:avLst>
          </a:prstGeom>
          <a:solidFill>
            <a:srgbClr val="0891B2"/>
          </a:solidFill>
          <a:ln/>
          <a:effectLst>
            <a:outerShdw blurRad="101600" dist="50800" dir="16200000" algn="bl" rotWithShape="0">
              <a:srgbClr val="0891B2">
                <a:alpha val="12000"/>
              </a:srgbClr>
            </a:outerShdw>
          </a:effectLst>
        </p:spPr>
        <p:txBody>
          <a:bodyPr wrap="none" lIns="0" tIns="0" rIns="0" bIns="0" rtlCol="0" anchor="ctr">
            <a:normAutofit fontScale="40000" lnSpcReduction="20000"/>
          </a:bodyPr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05811" y="5660628"/>
            <a:ext cx="177800" cy="177800"/>
          </a:xfrm>
          <a:prstGeom prst="roundRect">
            <a:avLst>
              <a:gd name="adj" fmla="val 3428571"/>
            </a:avLst>
          </a:prstGeom>
          <a:solidFill>
            <a:srgbClr val="0891B2"/>
          </a:solidFill>
          <a:ln/>
          <a:effectLst>
            <a:outerShdw blurRad="101600" dist="50800" dir="16200000" algn="bl" rotWithShape="0">
              <a:srgbClr val="0891B2">
                <a:alpha val="12000"/>
              </a:srgbClr>
            </a:outerShdw>
          </a:effectLst>
        </p:spPr>
        <p:txBody>
          <a:bodyPr wrap="none" lIns="0" tIns="0" rIns="0" bIns="0" rtlCol="0" anchor="ctr">
            <a:normAutofit fontScale="40000" lnSpcReduction="20000"/>
          </a:bodyPr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05811" y="6422628"/>
            <a:ext cx="177800" cy="177800"/>
          </a:xfrm>
          <a:prstGeom prst="roundRect">
            <a:avLst>
              <a:gd name="adj" fmla="val 3428571"/>
            </a:avLst>
          </a:prstGeom>
          <a:solidFill>
            <a:srgbClr val="0891B2"/>
          </a:solidFill>
          <a:ln/>
          <a:effectLst>
            <a:outerShdw blurRad="101600" dist="50800" dir="16200000" algn="bl" rotWithShape="0">
              <a:srgbClr val="0891B2">
                <a:alpha val="12000"/>
              </a:srgbClr>
            </a:outerShdw>
          </a:effectLst>
        </p:spPr>
        <p:txBody>
          <a:bodyPr wrap="none" lIns="0" tIns="0" rIns="0" bIns="0" rtlCol="0" anchor="ctr">
            <a:normAutofit fontScale="40000" lnSpcReduction="20000"/>
          </a:bodyPr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-1093391"/>
            <a:ext cx="11192256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</a:pPr>
            <a:r>
              <a:rPr lang="en-US" sz="1248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</a:t>
            </a:r>
            <a:endParaRPr lang="en-US" sz="1248" dirty="0"/>
          </a:p>
        </p:txBody>
      </p:sp>
      <p:sp>
        <p:nvSpPr>
          <p:cNvPr id="12" name="Text 10"/>
          <p:cNvSpPr/>
          <p:nvPr/>
        </p:nvSpPr>
        <p:spPr>
          <a:xfrm>
            <a:off x="609600" y="-754063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200"/>
              </a:lnSpc>
            </a:pPr>
            <a:r>
              <a:rPr lang="en-US" sz="480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the EMS Forecaster actually delivers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76301" y="1646237"/>
            <a:ext cx="5141321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</a:pPr>
            <a:r>
              <a:rPr lang="en-US" sz="1248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dashboard features</a:t>
            </a:r>
            <a:endParaRPr lang="en-US" sz="1248" dirty="0"/>
          </a:p>
        </p:txBody>
      </p:sp>
      <p:sp>
        <p:nvSpPr>
          <p:cNvPr id="14" name="Text 12"/>
          <p:cNvSpPr/>
          <p:nvPr/>
        </p:nvSpPr>
        <p:spPr>
          <a:xfrm>
            <a:off x="1132682" y="2292747"/>
            <a:ext cx="190579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Interactive controls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32682" y="3105547"/>
            <a:ext cx="190579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choice, 1–24 week horizon, weather/events toggles, confidence band, and AI recommendation.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54437" y="2292747"/>
            <a:ext cx="190599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Forecast visual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54437" y="3105547"/>
            <a:ext cx="1905992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Historical weekly exposures overlaid with forward forecasts and simple upper/lower bounds.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2682" y="5345509"/>
            <a:ext cx="190579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 panel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32682" y="6158309"/>
            <a:ext cx="1905793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Backtest metrics shown beside the forecast so confidence is visible, not hidden.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54437" y="5345509"/>
            <a:ext cx="190599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Optional context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54437" y="6158309"/>
            <a:ext cx="1905992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Open-Meteo weather and Ticketmaster events can be added as exploratory signals.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05811" y="2374900"/>
            <a:ext cx="4600087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</a:pPr>
            <a:r>
              <a:rPr lang="en-US" sz="1248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Manager workflow in one screen</a:t>
            </a:r>
            <a:endParaRPr lang="en-US" sz="1248" dirty="0"/>
          </a:p>
        </p:txBody>
      </p:sp>
      <p:sp>
        <p:nvSpPr>
          <p:cNvPr id="23" name="Text 21"/>
          <p:cNvSpPr/>
          <p:nvPr/>
        </p:nvSpPr>
        <p:spPr>
          <a:xfrm>
            <a:off x="6991548" y="4720828"/>
            <a:ext cx="27972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64463" y="4720828"/>
            <a:ext cx="27972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37376" y="4720828"/>
            <a:ext cx="27972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10291" y="4720828"/>
            <a:ext cx="27972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1456" y="4720828"/>
            <a:ext cx="34469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F+1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824370" y="4720828"/>
            <a:ext cx="34469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F+2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6012" y="5152629"/>
            <a:ext cx="83654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1: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6012" y="5609829"/>
            <a:ext cx="83654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2: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6012" y="6371829"/>
            <a:ext cx="83654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3: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91444"/>
            <a:ext cx="5283200" cy="2514600"/>
          </a:xfrm>
          <a:prstGeom prst="roundRect">
            <a:avLst>
              <a:gd name="adj" fmla="val 116364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76301" y="1663303"/>
            <a:ext cx="2010172" cy="401240"/>
          </a:xfrm>
          <a:prstGeom prst="roundRect">
            <a:avLst>
              <a:gd name="adj" fmla="val 30355418"/>
            </a:avLst>
          </a:prstGeom>
          <a:solidFill>
            <a:srgbClr val="0891B2">
              <a:alpha val="10000"/>
            </a:srgbClr>
          </a:solidFill>
          <a:ln/>
        </p:spPr>
        <p:txBody>
          <a:bodyPr wrap="square" lIns="142240" tIns="142240" rIns="142240" bIns="142240" rtlCol="0" anchor="t">
            <a:normAutofit fontScale="25000" lnSpcReduction="20000"/>
          </a:bodyPr>
          <a:lstStyle/>
          <a:p>
            <a:r>
              <a:rPr lang="en-US" sz="1312" b="1" dirty="0">
                <a:solidFill>
                  <a:srgbClr val="0C4A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Main contribution</a:t>
            </a:r>
            <a:endParaRPr lang="en-US" sz="1312" dirty="0"/>
          </a:p>
        </p:txBody>
      </p:sp>
      <p:sp>
        <p:nvSpPr>
          <p:cNvPr id="4" name="Text 2"/>
          <p:cNvSpPr/>
          <p:nvPr/>
        </p:nvSpPr>
        <p:spPr>
          <a:xfrm>
            <a:off x="609600" y="4109244"/>
            <a:ext cx="5283200" cy="2159000"/>
          </a:xfrm>
          <a:prstGeom prst="roundRect">
            <a:avLst>
              <a:gd name="adj" fmla="val 135529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6301" y="4381103"/>
            <a:ext cx="1628180" cy="401240"/>
          </a:xfrm>
          <a:prstGeom prst="roundRect">
            <a:avLst>
              <a:gd name="adj" fmla="val 30355418"/>
            </a:avLst>
          </a:prstGeom>
          <a:solidFill>
            <a:srgbClr val="0891B2">
              <a:alpha val="10000"/>
            </a:srgbClr>
          </a:solidFill>
          <a:ln/>
        </p:spPr>
        <p:txBody>
          <a:bodyPr wrap="square" lIns="142240" tIns="142240" rIns="142240" bIns="142240" rtlCol="0" anchor="t">
            <a:normAutofit fontScale="25000" lnSpcReduction="20000"/>
          </a:bodyPr>
          <a:lstStyle/>
          <a:p>
            <a:r>
              <a:rPr lang="en-US" sz="1312" b="1" dirty="0">
                <a:solidFill>
                  <a:srgbClr val="0C4A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limits</a:t>
            </a:r>
            <a:endParaRPr lang="en-US" sz="1312" dirty="0"/>
          </a:p>
        </p:txBody>
      </p:sp>
      <p:sp>
        <p:nvSpPr>
          <p:cNvPr id="6" name="Text 4"/>
          <p:cNvSpPr/>
          <p:nvPr/>
        </p:nvSpPr>
        <p:spPr>
          <a:xfrm>
            <a:off x="609600" y="6471444"/>
            <a:ext cx="5283200" cy="2514600"/>
          </a:xfrm>
          <a:prstGeom prst="roundRect">
            <a:avLst>
              <a:gd name="adj" fmla="val 116364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76300" y="6743303"/>
            <a:ext cx="1376760" cy="401240"/>
          </a:xfrm>
          <a:prstGeom prst="roundRect">
            <a:avLst>
              <a:gd name="adj" fmla="val 30355418"/>
            </a:avLst>
          </a:prstGeom>
          <a:solidFill>
            <a:srgbClr val="0891B2">
              <a:alpha val="10000"/>
            </a:srgbClr>
          </a:solidFill>
          <a:ln/>
        </p:spPr>
        <p:txBody>
          <a:bodyPr wrap="square" lIns="142240" tIns="142240" rIns="142240" bIns="142240" rtlCol="0" anchor="t">
            <a:normAutofit fontScale="25000" lnSpcReduction="20000"/>
          </a:bodyPr>
          <a:lstStyle/>
          <a:p>
            <a:r>
              <a:rPr lang="en-US" sz="1312" b="1" dirty="0">
                <a:solidFill>
                  <a:srgbClr val="0C4A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Next phase</a:t>
            </a:r>
            <a:endParaRPr lang="en-US" sz="1312" dirty="0"/>
          </a:p>
        </p:txBody>
      </p:sp>
      <p:sp>
        <p:nvSpPr>
          <p:cNvPr id="8" name="Text 6"/>
          <p:cNvSpPr/>
          <p:nvPr/>
        </p:nvSpPr>
        <p:spPr>
          <a:xfrm>
            <a:off x="6299200" y="859036"/>
            <a:ext cx="5283200" cy="5139928"/>
          </a:xfrm>
          <a:prstGeom prst="roundRect">
            <a:avLst>
              <a:gd name="adj" fmla="val 56928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0F172A"/>
            </a:solidFill>
          </a:ln>
          <a:effectLst>
            <a:outerShdw blurRad="323850" dist="152400" dir="5400000" algn="bl" rotWithShape="0">
              <a:srgbClr val="0F172A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1" y="973336"/>
            <a:ext cx="38100" cy="4911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61981" y="1642864"/>
            <a:ext cx="177800" cy="177800"/>
          </a:xfrm>
          <a:prstGeom prst="roundRect">
            <a:avLst>
              <a:gd name="adj" fmla="val 3428571"/>
            </a:avLst>
          </a:prstGeom>
          <a:solidFill>
            <a:srgbClr val="0891B2"/>
          </a:solidFill>
          <a:ln/>
          <a:effectLst>
            <a:outerShdw blurRad="101600" dist="50800" dir="16200000" algn="bl" rotWithShape="0">
              <a:srgbClr val="0891B2">
                <a:alpha val="12000"/>
              </a:srgbClr>
            </a:outerShdw>
          </a:effectLst>
        </p:spPr>
        <p:txBody>
          <a:bodyPr wrap="none" lIns="0" tIns="0" rIns="0" bIns="0" rtlCol="0" anchor="ctr">
            <a:normAutofit fontScale="40000" lnSpcReduction="20000"/>
          </a:bodyPr>
          <a:lstStyle/>
          <a:p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961981" y="3116064"/>
            <a:ext cx="177800" cy="177800"/>
          </a:xfrm>
          <a:prstGeom prst="roundRect">
            <a:avLst>
              <a:gd name="adj" fmla="val 3428571"/>
            </a:avLst>
          </a:prstGeom>
          <a:solidFill>
            <a:srgbClr val="0891B2"/>
          </a:solidFill>
          <a:ln/>
          <a:effectLst>
            <a:outerShdw blurRad="101600" dist="50800" dir="16200000" algn="bl" rotWithShape="0">
              <a:srgbClr val="0891B2">
                <a:alpha val="12000"/>
              </a:srgbClr>
            </a:outerShdw>
          </a:effectLst>
        </p:spPr>
        <p:txBody>
          <a:bodyPr wrap="none" lIns="0" tIns="0" rIns="0" bIns="0" rtlCol="0" anchor="ctr">
            <a:normAutofit fontScale="40000" lnSpcReduction="20000"/>
          </a:bodyPr>
          <a:lstStyle/>
          <a:p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961981" y="4589264"/>
            <a:ext cx="177800" cy="177800"/>
          </a:xfrm>
          <a:prstGeom prst="roundRect">
            <a:avLst>
              <a:gd name="adj" fmla="val 3428571"/>
            </a:avLst>
          </a:prstGeom>
          <a:solidFill>
            <a:srgbClr val="0891B2"/>
          </a:solidFill>
          <a:ln/>
          <a:effectLst>
            <a:outerShdw blurRad="101600" dist="50800" dir="16200000" algn="bl" rotWithShape="0">
              <a:srgbClr val="0891B2">
                <a:alpha val="12000"/>
              </a:srgbClr>
            </a:outerShdw>
          </a:effectLst>
        </p:spPr>
        <p:txBody>
          <a:bodyPr wrap="none" lIns="0" tIns="0" rIns="0" bIns="0" rtlCol="0" anchor="ctr">
            <a:normAutofit fontScale="40000" lnSpcReduction="20000"/>
          </a:bodyPr>
          <a:lstStyle/>
          <a:p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09600" y="-2127845"/>
            <a:ext cx="5388864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</a:pPr>
            <a:r>
              <a:rPr lang="en-US" sz="1248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Impact, limits, next steps</a:t>
            </a:r>
            <a:endParaRPr lang="en-US" sz="1248" dirty="0"/>
          </a:p>
        </p:txBody>
      </p:sp>
      <p:sp>
        <p:nvSpPr>
          <p:cNvPr id="14" name="Text 11"/>
          <p:cNvSpPr/>
          <p:nvPr/>
        </p:nvSpPr>
        <p:spPr>
          <a:xfrm>
            <a:off x="609600" y="-1788517"/>
            <a:ext cx="5283200" cy="2925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680"/>
              </a:lnSpc>
            </a:pPr>
            <a:r>
              <a:rPr lang="en-US" sz="512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passive dashboard to decision support</a:t>
            </a:r>
            <a:endParaRPr lang="en-US" sz="5120" dirty="0"/>
          </a:p>
        </p:txBody>
      </p:sp>
      <p:sp>
        <p:nvSpPr>
          <p:cNvPr id="15" name="Text 12"/>
          <p:cNvSpPr/>
          <p:nvPr/>
        </p:nvSpPr>
        <p:spPr>
          <a:xfrm>
            <a:off x="876300" y="2216944"/>
            <a:ext cx="4749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project shows that routine EMS exposure records can support a transparent weekly forecasting workflow that managers can understand and use.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76300" y="4934744"/>
            <a:ext cx="4749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final prototype is constrained by one year of data, a single exposure outcome, and incomplete hospital outcome fields.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76300" y="7296944"/>
            <a:ext cx="4749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Extend to more years, validate model performance across settings, and strengthen links between forecasts, staffing, and preventive actions.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961982" y="1125736"/>
            <a:ext cx="4440793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2"/>
              </a:lnSpc>
            </a:pPr>
            <a:r>
              <a:rPr lang="en-US" sz="1248" b="1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Prototype roadmap</a:t>
            </a:r>
            <a:endParaRPr lang="en-US" sz="1248" dirty="0"/>
          </a:p>
        </p:txBody>
      </p:sp>
      <p:sp>
        <p:nvSpPr>
          <p:cNvPr id="19" name="Text 16"/>
          <p:cNvSpPr/>
          <p:nvPr/>
        </p:nvSpPr>
        <p:spPr>
          <a:xfrm>
            <a:off x="7342982" y="1566664"/>
            <a:ext cx="4052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Now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42982" y="1871464"/>
            <a:ext cx="39727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Working Streamlit prototype with forecasting, backtesting, and PAi recommendations.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42982" y="3039864"/>
            <a:ext cx="4052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Next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42982" y="3344664"/>
            <a:ext cx="39727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more historical years and compare forecast stability across models and horizons.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42982" y="4513064"/>
            <a:ext cx="4052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342982" y="4817864"/>
            <a:ext cx="39727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 how weather, special events, and operational workload improve planning accuracy.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604</Words>
  <Application>Microsoft Office PowerPoint</Application>
  <PresentationFormat>Widescreen</PresentationFormat>
  <Paragraphs>100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Calisto MT</vt:lpstr>
      <vt:lpstr>Manrope</vt:lpstr>
      <vt:lpstr>ui-sans-serif</vt:lpstr>
      <vt:lpstr>Univers Condensed</vt:lpstr>
      <vt:lpstr>ChronicleVTI</vt:lpstr>
      <vt:lpstr>EMS Exposure Forecasting App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Adriatico, Dundee B.</dc:creator>
  <cp:lastModifiedBy>Adriatico, Dundee B.</cp:lastModifiedBy>
  <cp:revision>1</cp:revision>
  <dcterms:created xsi:type="dcterms:W3CDTF">2026-04-09T02:16:04Z</dcterms:created>
  <dcterms:modified xsi:type="dcterms:W3CDTF">2026-04-09T03:12:40Z</dcterms:modified>
</cp:coreProperties>
</file>